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286000"/>
            <a:ext cx="8229600" cy="1524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rgbClr val="292524"/>
                </a:solidFill>
                <a:latin typeface="system-ui"/>
              </a:rPr>
              <a:t>Q3 2024</a:t>
            </a:r>
          </a:p>
          <a:p>
            <a:pPr algn="ctr"/>
            <a:r>
              <a:rPr lang="en-US" sz="2400">
                <a:solidFill>
                  <a:srgbClr val="78716c"/>
                </a:solidFill>
              </a:rPr>
              <a:t>Quarterly Business Review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292524"/>
                </a:solidFill>
              </a:rPr>
              <a:t>Key Metrics</a:t>
            </a:r>
          </a:p>
        </p:txBody>
      </p:sp>
      <p:sp>
        <p:nvSpPr>
          <p:cNvPr id="3" name="Revenue"/>
          <p:cNvSpPr/>
          <p:nvPr/>
        </p:nvSpPr>
        <p:spPr>
          <a:xfrm>
            <a:off x="457200" y="914400"/>
            <a:ext cx="2743200" cy="13716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7e5e4"/>
            </a:solidFill>
          </a:ln>
        </p:spPr>
        <p:txBody>
          <a:bodyPr lIns="182880" tIns="137160" rIns="182880" bIns="137160"/>
          <a:lstStyle/>
          <a:p>
            <a:r>
              <a:rPr lang="en-US" sz="1200">
                <a:solidFill>
                  <a:srgbClr val="78716c"/>
                </a:solidFill>
              </a:rPr>
              <a:t>Revenue</a:t>
            </a:r>
          </a:p>
          <a:p>
            <a:r>
              <a:rPr lang="en-US" sz="2800" b="1">
                <a:solidFill>
                  <a:srgbClr val="292524"/>
                </a:solidFill>
              </a:rPr>
              <a:t>$1,456,789</a:t>
            </a:r>
          </a:p>
          <a:p>
            <a:r>
              <a:rPr lang="en-US" sz="1200">
                <a:solidFill>
                  <a:srgbClr val="6b8f71"/>
                </a:solidFill>
              </a:rPr>
              <a:t>+18.0%</a:t>
            </a:r>
          </a:p>
        </p:txBody>
      </p:sp>
      <p:sp>
        <p:nvSpPr>
          <p:cNvPr id="4" name="Users"/>
          <p:cNvSpPr/>
          <p:nvPr/>
        </p:nvSpPr>
        <p:spPr>
          <a:xfrm>
            <a:off x="3429000" y="914400"/>
            <a:ext cx="2743200" cy="13716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7e5e4"/>
            </a:solidFill>
          </a:ln>
        </p:spPr>
        <p:txBody>
          <a:bodyPr lIns="182880" tIns="137160" rIns="182880" bIns="137160"/>
          <a:lstStyle/>
          <a:p>
            <a:r>
              <a:rPr lang="en-US" sz="1200">
                <a:solidFill>
                  <a:srgbClr val="78716c"/>
                </a:solidFill>
              </a:rPr>
              <a:t>Active Users</a:t>
            </a:r>
          </a:p>
          <a:p>
            <a:r>
              <a:rPr lang="en-US" sz="2800" b="1">
                <a:solidFill>
                  <a:srgbClr val="292524"/>
                </a:solidFill>
              </a:rPr>
              <a:t>52,847</a:t>
            </a:r>
          </a:p>
          <a:p>
            <a:r>
              <a:rPr lang="en-US" sz="1200">
                <a:solidFill>
                  <a:srgbClr val="6b8f71"/>
                </a:solidFill>
              </a:rPr>
              <a:t>+16.8%</a:t>
            </a:r>
          </a:p>
        </p:txBody>
      </p:sp>
      <p:sp>
        <p:nvSpPr>
          <p:cNvPr id="5" name="Conversion"/>
          <p:cNvSpPr/>
          <p:nvPr/>
        </p:nvSpPr>
        <p:spPr>
          <a:xfrm>
            <a:off x="6400800" y="914400"/>
            <a:ext cx="2743200" cy="13716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7e5e4"/>
            </a:solidFill>
          </a:ln>
        </p:spPr>
        <p:txBody>
          <a:bodyPr lIns="182880" tIns="137160" rIns="182880" bIns="137160"/>
          <a:lstStyle/>
          <a:p>
            <a:r>
              <a:rPr lang="en-US" sz="1200">
                <a:solidFill>
                  <a:srgbClr val="78716c"/>
                </a:solidFill>
              </a:rPr>
              <a:t>Conversion Rate</a:t>
            </a:r>
          </a:p>
          <a:p>
            <a:r>
              <a:rPr lang="en-US" sz="2800" b="1">
                <a:solidFill>
                  <a:srgbClr val="292524"/>
                </a:solidFill>
              </a:rPr>
              <a:t>4.1%</a:t>
            </a:r>
          </a:p>
          <a:p>
            <a:r>
              <a:rPr lang="en-US" sz="1200">
                <a:solidFill>
                  <a:srgbClr val="6b8f71"/>
                </a:solidFill>
              </a:rPr>
              <a:t>+0.9pp</a:t>
            </a:r>
          </a:p>
        </p:txBody>
      </p:sp>
      <p:sp>
        <p:nvSpPr>
          <p:cNvPr id="6" name="Summary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7534e"/>
                </a:solidFill>
              </a:rPr>
              <a:t>Strong quarter with growth across all metrics</a:t>
            </a:r>
          </a:p>
        </p:txBody>
      </p:sp>
    </p:spTree>
  </p:cSld>
</p:sld>
</file>